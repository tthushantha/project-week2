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6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3635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https://git-scm.com/community/logos (Git logo download page)
- https://git-scm.com/ (description of Git as distributed version control system)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https://git-scm.com/ (high-level description of Git and core commands)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https://git-scm.com/docs/git-config
- https://git-scm.com/docs/git-help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https://git-scm.com/docs/git-init
- https://git-scm.com/docs/git-clone
- https://git-scm.com/docs/gitignore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https://git-scm.com/docs/git-add
- https://git-scm.com/docs/git-commit
- https://git-scm.com/docs/git-mv
- https://git-scm.com/docs/git-rm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https://git-scm.com/docs/git-diff
- https://git-scm.com/docs/git-log
- https://git-scm.com/docs/git-show
- https://git-scm.com/docs/git-blame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https://git-scm.com/docs/git-switch
- https://git-scm.com/docs/git-branch
- https://git-scm.com/docs/git-fetch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https://git-scm.com/docs/git-merge
- https://git-scm.com/docs/git-rebase
- https://git-scm.com/docs/git-push (force-with-lease)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https://git-scm.com/docs/git-fetch
- https://git-scm.com/docs/git-pull
- https://git-scm.com/docs/git-push
- https://git-scm.com/docs/git-remote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https://git-scm.com/docs/git-restore
- https://git-scm.com/docs/git-reset
- https://git-scm.com/docs/git-revert
- https://git-scm.com/docs/git-reflog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https://git-scm.com/docs/git-stash
- https://git-scm.com/docs/git-tag
- https://git-scm.com/docs/git-clean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https://git-scm.com/docs/git-config (aliases)
- https://git-scm.com/docs/git-grep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85800" y="16002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Commands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13232" y="251460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practical, comment-rich cheat sheet with copy/paste examples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13232" y="3154680"/>
            <a:ext cx="4343400" cy="310896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13232" y="3191256"/>
            <a:ext cx="4343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Basics → Branching → Remotes → Undo</a:t>
            </a:r>
            <a:endParaRPr lang="en-US" sz="1200" dirty="0"/>
          </a:p>
        </p:txBody>
      </p:sp>
      <p:pic>
        <p:nvPicPr>
          <p:cNvPr id="8" name="Image 0" descr="/mnt/data/git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0" y="2242792"/>
            <a:ext cx="2834640" cy="11836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5257800"/>
            <a:ext cx="10835640" cy="960120"/>
          </a:xfrm>
          <a:prstGeom prst="rect">
            <a:avLst/>
          </a:prstGeom>
          <a:solidFill>
            <a:srgbClr val="F9FAFB"/>
          </a:solidFill>
          <a:ln>
            <a:solidFill>
              <a:srgbClr val="E5E7EB"/>
            </a:solidFill>
          </a:ln>
        </p:spPr>
        <p:txBody>
          <a:bodyPr wrap="square" lIns="3175" tIns="3175" rIns="3175" bIns="3175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pattern: edit → git status → git add -p → git commit → git push
</a:t>
            </a: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use “--help” and “-p” (patch mode) everywhere.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Git thinks (the 4 areas)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 map cleanly to how changes move through Git.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170432"/>
            <a:ext cx="11018520" cy="54864"/>
          </a:xfrm>
          <a:prstGeom prst="rect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1691640"/>
            <a:ext cx="2743200" cy="12344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89280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tree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2585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files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691640"/>
            <a:ext cx="2743200" cy="12344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520440" y="189280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area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520440" y="22585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55080" y="1691640"/>
            <a:ext cx="2743200" cy="12344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83680" y="189280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repo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83680" y="22585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418320" y="1691640"/>
            <a:ext cx="2743200" cy="12344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646920" y="189280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46920" y="22585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971800" y="2308860"/>
            <a:ext cx="320040" cy="0"/>
          </a:xfrm>
          <a:prstGeom prst="line">
            <a:avLst/>
          </a:prstGeom>
          <a:noFill/>
          <a:ln w="25400">
            <a:solidFill>
              <a:srgbClr val="4B556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035040" y="2308860"/>
            <a:ext cx="320040" cy="0"/>
          </a:xfrm>
          <a:prstGeom prst="line">
            <a:avLst/>
          </a:prstGeom>
          <a:noFill/>
          <a:ln w="25400">
            <a:solidFill>
              <a:srgbClr val="4B556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098280" y="2308860"/>
            <a:ext cx="320040" cy="0"/>
          </a:xfrm>
          <a:prstGeom prst="line">
            <a:avLst/>
          </a:prstGeom>
          <a:noFill/>
          <a:ln w="25400">
            <a:solidFill>
              <a:srgbClr val="4B556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148840" y="3017520"/>
            <a:ext cx="1271016" cy="310896"/>
          </a:xfrm>
          <a:prstGeom prst="roundRect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148840" y="3054096"/>
            <a:ext cx="1271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add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983480" y="3017520"/>
            <a:ext cx="1600200" cy="310896"/>
          </a:xfrm>
          <a:prstGeom prst="roundRect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83480" y="3054096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commit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046720" y="3017520"/>
            <a:ext cx="1380744" cy="310896"/>
          </a:xfrm>
          <a:prstGeom prst="roundRect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046720" y="3054096"/>
            <a:ext cx="1380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812280" y="1280160"/>
            <a:ext cx="1490472" cy="310896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812280" y="1316736"/>
            <a:ext cx="1490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fetch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641080" y="1280160"/>
            <a:ext cx="1380744" cy="310896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641080" y="1316736"/>
            <a:ext cx="1380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pull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5800" y="370332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verbs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85800" y="4133088"/>
            <a:ext cx="56692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= where am I right now?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= choose what to commit (often with -p)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= record a snapshot (+ message)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fetch/pull = bring remote history locally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= publish your local commits to a remote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629400" y="3657600"/>
            <a:ext cx="4937760" cy="26060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  <a:effectLst>
            <a:outerShdw blurRad="38100" dist="1905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858000" y="3822192"/>
            <a:ext cx="44805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# The usual loop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# 1) See what's changed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# 2) Stage (choose hunks interactively)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-p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# 3) Commit with a message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"Explain the why"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# 4) Publish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94360" y="6601968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mental model: working tree → index → local repo → remote.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&amp; help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First-time config + the fastest ways to learn any command.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170432"/>
            <a:ext cx="11018520" cy="54864"/>
          </a:xfrm>
          <a:prstGeom prst="rect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4630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this once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1892808"/>
            <a:ext cx="5394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your name/email (shows in commits)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default branch name (optional)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an editor + difftool/mergetool you like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how to read “git help” output quickly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63640" y="1417320"/>
            <a:ext cx="5257800" cy="4800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  <a:effectLst>
            <a:outerShdw blurRad="38100" dist="1905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92240" y="1581912"/>
            <a:ext cx="480060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# Check version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--version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# Identity (global = all repos on this machine)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 --global user.name  "Ada Lovelace"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 --global user.email "ada@example.com"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# Default branch name for new repos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 --global init.defaultBranch main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# See what Git will use (and where it came from)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 --list --show-origin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# Learn any command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help commit     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full manual (opens pager)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-h       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short help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6601968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tip: if Git opens a pager (less), press q to quit.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 repository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repo, or clone an existing one.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170432"/>
            <a:ext cx="11018520" cy="54864"/>
          </a:xfrm>
          <a:prstGeom prst="rect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4630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1892808"/>
            <a:ext cx="5394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= copy history from a remote into a new folder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= create a fresh .git folder in your existing project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early, status often (it’s your compass)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.gitignore stops untracked files from showing up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63640" y="1417320"/>
            <a:ext cx="5257800" cy="4800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  <a:effectLst>
            <a:outerShdw blurRad="38100" dist="1905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92240" y="1581912"/>
            <a:ext cx="480060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# Option A: clone (recommended when remote exists)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https://example.com/acme/widgets.git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widgets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# Option B: init (start tracking an existing folder)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my-project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init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# First look around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# Add a .gitignore (example)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 "node_modules/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.env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.DS_Store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&gt;&gt; .gitignore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6601968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see “untracked files”, Git is just telling you it hasn’t started tracking them yet.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&amp; commit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exactly what goes into a snapshot.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170432"/>
            <a:ext cx="11018520" cy="54864"/>
          </a:xfrm>
          <a:prstGeom prst="rect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4630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habits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1892808"/>
            <a:ext cx="5394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small, logical chunks (easier reviews + easier reverts)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git add -p to stage hunks interactively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messages about intent (“why”), not mechanics (“what”)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-a only when you truly want all tracked file changes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63640" y="1417320"/>
            <a:ext cx="5257800" cy="4800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  <a:effectLst>
            <a:outerShdw blurRad="38100" dist="1905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92240" y="1581912"/>
            <a:ext cx="480060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# Inspect changes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# Stage everything (new + modified)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# Stage interactively (recommended)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-p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# Commit staged changes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"Add retry logic to API client"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# Commit all tracked changes (skips new files)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-am "Fix typo in docs"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# Rename / delete with history awareness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mv old_name.ts new_name.ts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rm obsolete.txt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6601968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“Staging” is your chance to curate the commit. Treat it like a mini code review.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Inspect: diff, log, show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“what changed?” and “why did it change?” fast.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170432"/>
            <a:ext cx="11018520" cy="54864"/>
          </a:xfrm>
          <a:prstGeom prst="rect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4630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Most-used inspection commands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1892808"/>
            <a:ext cx="5394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diff = working tree vs index (unstaged)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diff --staged = index vs last commit (staged)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log = history (add --oneline --graph for readability)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show &lt;ref&gt; = inspect a commit, tag, or any object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63640" y="1417320"/>
            <a:ext cx="5257800" cy="4800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  <a:effectLst>
            <a:outerShdw blurRad="38100" dist="1905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92240" y="1581912"/>
            <a:ext cx="480060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# See unstaged changes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diff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# See staged changes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diff --staged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# Pretty history view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log --oneline --graph --decorate --all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# Inspect a specific commit (patch + metadata)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show HEAD~2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# Blame (who last touched each line?)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blame path/to/file.py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6601968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“--” before paths when in doubt: git diff -- path/to/file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Branching essentials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switch, and clean up branches safely.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170432"/>
            <a:ext cx="11018520" cy="54864"/>
          </a:xfrm>
          <a:prstGeom prst="rect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4630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commands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1892808"/>
            <a:ext cx="5394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switch = move between branches (newer, clearer)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branch = list/create/delete branches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checkout still works, but is more overloaded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-c (create) and -d/-D (delete) regularly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63640" y="1417320"/>
            <a:ext cx="5257800" cy="4800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  <a:effectLst>
            <a:outerShdw blurRad="38100" dist="1905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92240" y="1581912"/>
            <a:ext cx="480060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# List branches (* = current)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branch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# Create and switch (recommended)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switch -c feature/login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# Switch back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switch main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# Update your branch list (local view of remote branches)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fetch --all --prune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# Delete a fully-merged branch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branch -d feature/login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# Force-delete (not merged)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branch -D wip/experiment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# See which remote each branch tracks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branch -vv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6601968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branch is just a movable label pointing at a commit.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vs rebase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integrate work. Know when each is appropriate.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170432"/>
            <a:ext cx="11018520" cy="54864"/>
          </a:xfrm>
          <a:prstGeom prst="rect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164592" cy="164592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600200" y="2148840"/>
            <a:ext cx="164592" cy="164592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05256" y="2231136"/>
            <a:ext cx="777240" cy="0"/>
          </a:xfrm>
          <a:prstGeom prst="line">
            <a:avLst/>
          </a:prstGeom>
          <a:noFill/>
          <a:ln w="254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377440" y="2148840"/>
            <a:ext cx="164592" cy="164592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682496" y="2231136"/>
            <a:ext cx="777240" cy="0"/>
          </a:xfrm>
          <a:prstGeom prst="line">
            <a:avLst/>
          </a:prstGeom>
          <a:noFill/>
          <a:ln w="254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154680" y="2148840"/>
            <a:ext cx="164592" cy="164592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459736" y="2231136"/>
            <a:ext cx="777240" cy="0"/>
          </a:xfrm>
          <a:prstGeom prst="line">
            <a:avLst/>
          </a:prstGeom>
          <a:noFill/>
          <a:ln w="254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931920" y="2148840"/>
            <a:ext cx="164592" cy="164592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36976" y="2231136"/>
            <a:ext cx="777240" cy="0"/>
          </a:xfrm>
          <a:prstGeom prst="line">
            <a:avLst/>
          </a:prstGeom>
          <a:noFill/>
          <a:ln w="254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377440" y="1508760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154680" y="1508760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459736" y="2231136"/>
            <a:ext cx="0" cy="0"/>
          </a:xfrm>
          <a:prstGeom prst="line">
            <a:avLst/>
          </a:prstGeom>
          <a:noFill/>
          <a:ln w="254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459736" y="1591056"/>
            <a:ext cx="777240" cy="0"/>
          </a:xfrm>
          <a:prstGeom prst="line">
            <a:avLst/>
          </a:prstGeom>
          <a:noFill/>
          <a:ln w="254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23774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371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" y="30632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of thumb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5800" y="3401568"/>
            <a:ext cx="53949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keeps history as-is (adds a merge commit).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Rebase rewrites commits to create a linear story.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rebase commits you already pushed/shared.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rebase, prefer: git push --force-with-lease (safer).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263640" y="1417320"/>
            <a:ext cx="5257800" cy="4800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  <a:effectLst>
            <a:outerShdw blurRad="38100" dist="1905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92240" y="1581912"/>
            <a:ext cx="480060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# Merge feature into main (creates merge commit if needed)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switch main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merge feature/login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# Rebase your feature branch onto latest main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switch feature/login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fetch origin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rebase origin/main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# After a rebase on a published branch (use caution)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--force-with-lease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# Continue / abort during conflicts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rebase --continue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rebase --abort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94360" y="6601968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only remember one thing: don’t rewrite history others might have based work on.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Remotes: fetch, pull, push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Collaborate without surprises.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170432"/>
            <a:ext cx="11018520" cy="54864"/>
          </a:xfrm>
          <a:prstGeom prst="rect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4630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 defaults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1892808"/>
            <a:ext cx="5394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first (see what changed) before you pull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“pull --rebase” to avoid noisy merge commits (team preference)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-u on first push to set upstream tracking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--force-with-lease instead of --force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63640" y="1417320"/>
            <a:ext cx="5257800" cy="4800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  <a:effectLst>
            <a:outerShdw blurRad="38100" dist="1905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92240" y="1581912"/>
            <a:ext cx="480060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# Show remotes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remote -v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# Bring remote updates into your local remote-tracking branches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fetch origin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# Pull = fetch + integrate (merge by default)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# Common alternative: pull with rebase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 --rebase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# First push of a new branch: set upstream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-u origin feature/login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# Safer force push (won't clobber someone else's new work)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--force-with-lease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6601968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in doubt: fetch, inspect (log/diff), then integrate.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 &amp; recover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mistakes without panic (and without losing work).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170432"/>
            <a:ext cx="11018520" cy="54864"/>
          </a:xfrm>
          <a:prstGeom prst="rect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4630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right tool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1892808"/>
            <a:ext cx="5394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= undo file changes (working tree / staged)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= move branch pointer (can also change index/working tree)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revert = new commit that undoes an old commit (safe for shared history)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reflog = find “lost” commits after resets/rebases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63640" y="1417320"/>
            <a:ext cx="5257800" cy="4800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  <a:effectLst>
            <a:outerShdw blurRad="38100" dist="1905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92240" y="1581912"/>
            <a:ext cx="480060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# Discard unstaged changes in a file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restore path/to/file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# Unstage a file (keep working tree changes)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restore --staged path/to/file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# Reset last commit but keep changes staged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reset --soft HEAD~1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# Reset last commit and unstage changes (keep in working tree)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reset --mixed HEAD~1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# DANGER: throw away commits + working tree changes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# (only if you're 100% sure)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reset --hard HEAD~1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# Undo a commit safely on shared branches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revert &lt;bad_commit_sha&gt;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# Recover after "oops"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reflog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6601968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was committed, it’s usually recoverable via reflog.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Stash, tags, clean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Temporary shelves, release markers, and cleanup tools.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170432"/>
            <a:ext cx="11018520" cy="54864"/>
          </a:xfrm>
          <a:prstGeom prst="rect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4630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with care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1892808"/>
            <a:ext cx="5394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stash = park uncommitted work so you can switch context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= human-friendly names for important commits (e.g., releases)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removes untracked files — dry-run with -n first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commits over stashes for long-lived work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63640" y="1417320"/>
            <a:ext cx="5257800" cy="4800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  <a:effectLst>
            <a:outerShdw blurRad="38100" dist="1905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92240" y="1581912"/>
            <a:ext cx="480060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# Stash current work (including untracked files)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stash push -u -m "WIP: debugging"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# List and inspect stashes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stash list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stash show -p stash@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# Re-apply / pop (apply + drop)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stash apply stash@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stash pop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# Tag a release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tag -a v1.4.0 -m "Release 1.4.0"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--tags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# Remove untracked files (dry-run first!)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clean -n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clean -fd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6601968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“git clean -fd” is irreversible. Always start with “git clean -n”.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tips (optional but awesome)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Aliases, patch mode, and “do less typing” quality-of-life.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170432"/>
            <a:ext cx="11018520" cy="54864"/>
          </a:xfrm>
          <a:prstGeom prst="rect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4630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tricks that pay off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1892808"/>
            <a:ext cx="5394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patch mode: add -p / restore -p / reset -p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“--” to separate refs from paths: git checkout &lt;ref&gt; -- &lt;path&gt;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aliases for your favorite log/status views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“git grep” instead of plain grep inside repos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63640" y="1417320"/>
            <a:ext cx="5257800" cy="4800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  <a:effectLst>
            <a:outerShdw blurRad="38100" dist="1905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92240" y="1581912"/>
            <a:ext cx="480060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# Patch mode everywhere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-p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restore -p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reset -p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# Handy aliases (global)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 --global alias.st "status -sb"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 --global alias.lg "log --oneline --graph --decorate --all"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 --global alias.last "log -1 HEAD"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# Search tracked files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grep "TODO"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6263640"/>
            <a:ext cx="10835640" cy="548640"/>
          </a:xfrm>
          <a:prstGeom prst="roundRect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  <a:effectLst>
            <a:outerShdw blurRad="38100" dist="190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6382512"/>
            <a:ext cx="10469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you’re unsure: git status → git diff → git log → git reflog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2770</Words>
  <Application>Microsoft Macintosh PowerPoint</Application>
  <PresentationFormat>Widescreen</PresentationFormat>
  <Paragraphs>143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Lei Song</cp:lastModifiedBy>
  <cp:revision>2</cp:revision>
  <dcterms:created xsi:type="dcterms:W3CDTF">2026-02-10T11:27:26Z</dcterms:created>
  <dcterms:modified xsi:type="dcterms:W3CDTF">2026-02-10T11:43:01Z</dcterms:modified>
</cp:coreProperties>
</file>